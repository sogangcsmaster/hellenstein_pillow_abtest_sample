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ghtlocal.com/research/local-consumer-review-survey/" TargetMode="External"/><Relationship Id="rId2" Type="http://schemas.openxmlformats.org/officeDocument/2006/relationships/hyperlink" Target="https://docs.tosspayments.com/blo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ntentsquare.com/insights/digital-experience-benchmark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ymard.com/research" TargetMode="External"/><Relationship Id="rId2" Type="http://schemas.openxmlformats.org/officeDocument/2006/relationships/hyperlink" Target="https://www.splitbase.com/blog/conversion-optimization-product-pag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ymard.com/checkout-usability" TargetMode="External"/><Relationship Id="rId5" Type="http://schemas.openxmlformats.org/officeDocument/2006/relationships/hyperlink" Target="https://yalebooks.yale.edu/book/9780300262285/nudge/" TargetMode="External"/><Relationship Id="rId4" Type="http://schemas.openxmlformats.org/officeDocument/2006/relationships/hyperlink" Target="https://www.harpercollins.com/products/influence-new-and-expanded-robert-b-cialdini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ontentsquare.com/insights/digital-experience-benchmark/" TargetMode="External"/><Relationship Id="rId13" Type="http://schemas.openxmlformats.org/officeDocument/2006/relationships/hyperlink" Target="https://www.nhn-commerce.com/insight" TargetMode="External"/><Relationship Id="rId3" Type="http://schemas.openxmlformats.org/officeDocument/2006/relationships/hyperlink" Target="https://yalebooks.yale.edu/book/9780300262285/nudge/" TargetMode="External"/><Relationship Id="rId7" Type="http://schemas.openxmlformats.org/officeDocument/2006/relationships/hyperlink" Target="https://baymard.com/research" TargetMode="External"/><Relationship Id="rId12" Type="http://schemas.openxmlformats.org/officeDocument/2006/relationships/hyperlink" Target="https://docs.tosspayments.com/blog" TargetMode="External"/><Relationship Id="rId2" Type="http://schemas.openxmlformats.org/officeDocument/2006/relationships/hyperlink" Target="https://www.harpercollins.com/products/influence-new-and-expanded-robert-b-cialdini" TargetMode="External"/><Relationship Id="rId16" Type="http://schemas.openxmlformats.org/officeDocument/2006/relationships/hyperlink" Target="https://business.adobe.com/kr/resources/digital-trends-report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ngroup.com/articles/scrolling-and-attention/" TargetMode="External"/><Relationship Id="rId11" Type="http://schemas.openxmlformats.org/officeDocument/2006/relationships/hyperlink" Target="https://www.brightlocal.com/research/local-consumer-review-survey/" TargetMode="External"/><Relationship Id="rId5" Type="http://schemas.openxmlformats.org/officeDocument/2006/relationships/hyperlink" Target="https://www.sleepfoundation.org/best-pillows" TargetMode="External"/><Relationship Id="rId15" Type="http://schemas.openxmlformats.org/officeDocument/2006/relationships/hyperlink" Target="https://www.kca.go.kr" TargetMode="External"/><Relationship Id="rId10" Type="http://schemas.openxmlformats.org/officeDocument/2006/relationships/hyperlink" Target="https://www.splitbase.com/blog/conversion-optimization-product-page" TargetMode="External"/><Relationship Id="rId4" Type="http://schemas.openxmlformats.org/officeDocument/2006/relationships/hyperlink" Target="https://www.littlebrown.com/titles/daniel-kahneman/noise/" TargetMode="External"/><Relationship Id="rId9" Type="http://schemas.openxmlformats.org/officeDocument/2006/relationships/hyperlink" Target="https://www.powerreviews.com/research/" TargetMode="External"/><Relationship Id="rId14" Type="http://schemas.openxmlformats.org/officeDocument/2006/relationships/hyperlink" Target="https://www.i-boss.co.kr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MARKETING PROPOSAL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5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4000" b="1" spc="-80" dirty="0" err="1">
                <a:solidFill>
                  <a:srgbClr val="222222"/>
                </a:solidFill>
                <a:latin typeface="Pretendard"/>
              </a:rPr>
              <a:t>내</a:t>
            </a:r>
            <a:r>
              <a:rPr sz="4000" b="1" spc="-8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4000" b="1" spc="-80" dirty="0" err="1">
                <a:solidFill>
                  <a:srgbClr val="222222"/>
                </a:solidFill>
                <a:latin typeface="Pretendard"/>
              </a:rPr>
              <a:t>목의</a:t>
            </a:r>
            <a:r>
              <a:rPr sz="4000" b="1" spc="-8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4000" b="1" spc="-80" dirty="0" err="1">
                <a:solidFill>
                  <a:srgbClr val="222222"/>
                </a:solidFill>
                <a:latin typeface="Pretendard"/>
              </a:rPr>
              <a:t>베개</a:t>
            </a:r>
            <a:r>
              <a:rPr sz="4000" b="1" spc="-80" dirty="0">
                <a:solidFill>
                  <a:srgbClr val="222222"/>
                </a:solidFill>
                <a:latin typeface="Pretendard"/>
              </a:rPr>
              <a:t>,</a:t>
            </a:r>
            <a:r>
              <a:rPr lang="ko-KR" altLang="en-US" sz="4000" b="1" spc="-80" dirty="0">
                <a:solidFill>
                  <a:srgbClr val="222222"/>
                </a:solidFill>
                <a:latin typeface="Pretendard"/>
              </a:rPr>
              <a:t> 상세페이지 재구성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3351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같은 자산으로 전환율 25–50% 개선을 위한 12블록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2576"/>
            <a:ext cx="6400800" cy="3941063"/>
          </a:xfrm>
          <a:prstGeom prst="roundRect">
            <a:avLst>
              <a:gd name="adj" fmla="val 6496"/>
            </a:avLst>
          </a:prstGeom>
          <a:gradFill rotWithShape="1">
            <a:gsLst>
              <a:gs pos="0">
                <a:srgbClr val="B8300C"/>
              </a:gs>
              <a:gs pos="50000">
                <a:srgbClr val="F55424"/>
              </a:gs>
              <a:gs pos="100000">
                <a:srgbClr val="FBB38A"/>
              </a:gs>
            </a:gsLst>
            <a:lin ang="2700000" scaled="1"/>
          </a:gradFill>
          <a:ln>
            <a:noFill/>
          </a:ln>
          <a:effectLst>
            <a:outerShdw blurRad="190500" dir="5400000" algn="ctr" rotWithShape="0">
              <a:srgbClr val="F5542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">
                <a:solidFill>
                  <a:srgbClr val="FFE8DC"/>
                </a:solidFill>
                <a:latin typeface="Pretendard"/>
              </a:rPr>
              <a:t>TARGET 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82696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spc="-100">
                <a:solidFill>
                  <a:srgbClr val="FFFFFF"/>
                </a:solidFill>
                <a:latin typeface="Pretendard"/>
              </a:rPr>
              <a:t>+25–50%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54296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20">
                <a:solidFill>
                  <a:srgbClr val="FFFFFF"/>
                </a:solidFill>
                <a:latin typeface="Pretendard"/>
              </a:rPr>
              <a:t>구매 전환율 개선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11496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spc="-10">
                <a:solidFill>
                  <a:srgbClr val="FFE8DC"/>
                </a:solidFill>
                <a:latin typeface="Pretendard"/>
              </a:rPr>
              <a:t>Hero · Social Proof · Risk Reversal 누적 효과 기반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623559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623559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30">
                <a:solidFill>
                  <a:srgbClr val="B8300C"/>
                </a:solidFill>
                <a:latin typeface="Pretendard"/>
              </a:rPr>
              <a:t>FOR HELLENSTEIN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322576"/>
            <a:ext cx="4602175" cy="1191767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2523744"/>
            <a:ext cx="4144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0">
                <a:solidFill>
                  <a:srgbClr val="F55424"/>
                </a:solidFill>
                <a:latin typeface="Pretendard"/>
              </a:rPr>
              <a:t>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798064"/>
            <a:ext cx="4144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20">
                <a:solidFill>
                  <a:srgbClr val="222222"/>
                </a:solidFill>
                <a:latin typeface="Pretendard"/>
              </a:rPr>
              <a:t>강점 3 · 약점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697223"/>
            <a:ext cx="4602175" cy="1191767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3898391"/>
            <a:ext cx="4144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0">
                <a:solidFill>
                  <a:srgbClr val="1F4E79"/>
                </a:solidFill>
                <a:latin typeface="Pretendard"/>
              </a:rPr>
              <a:t>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172711"/>
            <a:ext cx="4144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20">
                <a:solidFill>
                  <a:srgbClr val="222222"/>
                </a:solidFill>
                <a:latin typeface="Pretendard"/>
              </a:rPr>
              <a:t>12 블록 · 5단계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071871"/>
            <a:ext cx="4602175" cy="1191767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5273039"/>
            <a:ext cx="4144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0">
                <a:solidFill>
                  <a:srgbClr val="F5B800"/>
                </a:solidFill>
                <a:latin typeface="Pretendard"/>
              </a:rPr>
              <a:t>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547360"/>
            <a:ext cx="4144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20">
                <a:solidFill>
                  <a:srgbClr val="222222"/>
                </a:solidFill>
                <a:latin typeface="Pretendard"/>
              </a:rPr>
              <a:t>Phase 1·2·3 / 4–5주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pango-gy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오늘 다룰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진단 → 이론 → 구조 → 실행 → 측정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414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F55424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현재 페이지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65576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강점 3가지 · 약점 7가지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2185416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1578" y="24414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F55424"/>
                </a:solidFill>
                <a:latin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990088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재구성 이론적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3465576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PAS · FAB · Cialdini · 손실 회피 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2185416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71636" y="24414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1F4E79"/>
                </a:solidFill>
                <a:latin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2990088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새 상세페이지 12블록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3465576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Hero에서 Final CTA까지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15968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1F4E79"/>
                </a:solidFill>
                <a:latin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카피 톤 &amp; 메시지 위계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96127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쓸 말과 쓰지 말아야 할 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7258" y="4315968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1578" y="4572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F5B800"/>
                </a:solidFill>
                <a:latin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1578" y="5120640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Phase별 실행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1578" y="5596127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1주 · 2주 · 1–2주 단위 분할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4315968"/>
            <a:ext cx="3637178" cy="1947671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71636" y="4572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0">
                <a:solidFill>
                  <a:srgbClr val="F5B800"/>
                </a:solidFill>
                <a:latin typeface="Pretendar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5120640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spc="-30">
                <a:solidFill>
                  <a:srgbClr val="222222"/>
                </a:solidFill>
                <a:latin typeface="Pretendard"/>
              </a:rPr>
              <a:t>예상 KPI &amp; 측정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5596127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전환율 +25–50%, 반품률 −20%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2 /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01 ·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왜 지금 상세페이지를 다시 봐야 할까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고관여 상품의 의사결정은 페이지 안에서 끝난다.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3612794" cy="256032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51176"/>
            <a:ext cx="306415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120">
                <a:solidFill>
                  <a:srgbClr val="F55424"/>
                </a:solidFill>
                <a:latin typeface="Pretendard"/>
              </a:rPr>
              <a:t>1.33%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39896"/>
            <a:ext cx="306415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-15">
                <a:solidFill>
                  <a:srgbClr val="222222"/>
                </a:solidFill>
                <a:latin typeface="Pretendard"/>
              </a:rPr>
              <a:t>국내 이커머스 평균 구매 전환율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06824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 dirty="0">
                <a:solidFill>
                  <a:srgbClr val="8E8E93"/>
                </a:solidFill>
                <a:latin typeface="Pretendard"/>
                <a:hlinkClick r:id="rId2"/>
              </a:rPr>
              <a:t>Source · 토스페이먼츠 결제 인사이트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9450" y="2185416"/>
            <a:ext cx="3612794" cy="256032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3770" y="2551176"/>
            <a:ext cx="306415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120">
                <a:solidFill>
                  <a:srgbClr val="1F4E79"/>
                </a:solidFill>
                <a:latin typeface="Pretendard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3739896"/>
            <a:ext cx="306415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-15">
                <a:solidFill>
                  <a:srgbClr val="222222"/>
                </a:solidFill>
                <a:latin typeface="Pretendard"/>
              </a:rPr>
              <a:t>구매 전 온라인 리뷰를 확인하는 소비자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3770" y="4306824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3"/>
              </a:rPr>
              <a:t>Source · BrightLocal Consumer Review Survey 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1700" y="2185416"/>
            <a:ext cx="3612794" cy="256032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6020" y="2551176"/>
            <a:ext cx="306415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120">
                <a:solidFill>
                  <a:srgbClr val="F5B800"/>
                </a:solidFill>
                <a:latin typeface="Pretendard"/>
              </a:rPr>
              <a:t>53%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6020" y="3739896"/>
            <a:ext cx="306415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-15">
                <a:solidFill>
                  <a:srgbClr val="222222"/>
                </a:solidFill>
                <a:latin typeface="Pretendard"/>
              </a:rPr>
              <a:t>PDP 첫 화면에서 이탈하는 모바일 방문자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020" y="4306824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 dirty="0">
                <a:solidFill>
                  <a:srgbClr val="8E8E93"/>
                </a:solidFill>
                <a:latin typeface="Pretendard"/>
                <a:hlinkClick r:id="rId4"/>
              </a:rPr>
              <a:t>Source · Contentsquare 2024 Digital Experience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46903"/>
            <a:ext cx="11277295" cy="1316736"/>
          </a:xfrm>
          <a:prstGeom prst="roundRect">
            <a:avLst>
              <a:gd name="adj" fmla="val 1249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148071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30">
                <a:solidFill>
                  <a:srgbClr val="F55424"/>
                </a:solidFill>
                <a:latin typeface="Pretendard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9823"/>
            <a:ext cx="105457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222222"/>
                </a:solidFill>
                <a:latin typeface="Pretendard"/>
              </a:rPr>
              <a:t>상세페이지는 매장 직원·체험 매대·상담사를 모두 대체하는 단 하나의 접점이다.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07023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특히 19만원대 베개처럼 고관여(High-Involvement) 카테고리는 비교·검색을 거치므로, 페이지가 곧 의사결정 그 자체.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3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01 · 현재 페이지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좋은 재료, 잘못된 진열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자산이 부족한 게 아니다 — 자산을 보여주는 방식이 부족하다.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5501487" cy="4078223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597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59736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Pretendard"/>
              </a:rPr>
              <a:t>강점 ·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9864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지금 잘 작동하는 자산 3가지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02736"/>
            <a:ext cx="36576" cy="612647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5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콘텐츠 깊이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개발 스토리 · 셀링포인트 · 사용 가이드 · Q&amp;A까지 완결성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9703"/>
            <a:ext cx="36576" cy="612647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43983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신뢰 자산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5년 임상 테스트 · FITI 공인 인증 · 29페이지 리뷰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76671"/>
            <a:ext cx="36576" cy="612647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30951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인포그래픽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79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4분할 구조 · 높이 조절 시각화 수준 우수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185416"/>
            <a:ext cx="5501487" cy="4078223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07327" y="24597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7327" y="245973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8300C"/>
                </a:solidFill>
                <a:latin typeface="Pretendard"/>
              </a:rPr>
              <a:t>약점 · 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289864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재구성이 필요한 3가지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3602736"/>
            <a:ext cx="36576" cy="612647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0207" y="3557015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우선순위 부재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0207" y="3895344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셀링포인트 6개를 평등 나열 → 하나도 기억 못 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7327" y="4489703"/>
            <a:ext cx="36576" cy="612647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0207" y="4443983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가격 정당화 부재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7" y="4782312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19만원이 왜 합리적인지 페이지가 답하지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07327" y="5376671"/>
            <a:ext cx="36576" cy="612647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90207" y="5330951"/>
            <a:ext cx="476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-20">
                <a:solidFill>
                  <a:srgbClr val="222222"/>
                </a:solidFill>
                <a:latin typeface="Pretendard"/>
              </a:rPr>
              <a:t>사회적 증거 위치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0207" y="5669279"/>
            <a:ext cx="4769967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최강 자산(후기)이 페이지 하단에 묻혀 있음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4 /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01 · 약점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전환을 막는 7가지 구조적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각 문제는 다음 챕터의 12블록 재구성으로 1:1 대응된다.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2695879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414016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1401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43784"/>
            <a:ext cx="22386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Hero 가치 제안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74136"/>
            <a:ext cx="2238679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첫 화면 8초 안에 '왜 이 베개여야 하는가'에 답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7671" y="2185416"/>
            <a:ext cx="2695879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6271" y="2414016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6271" y="241401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271" y="2843784"/>
            <a:ext cx="22386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셀링포인트 평등 나열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6271" y="3374136"/>
            <a:ext cx="2238679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Cognitive Load: 6개 동시 노출 시 회상률 급감 (3±1)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185416"/>
            <a:ext cx="2695879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6743" y="2414016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6743" y="241401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2843784"/>
            <a:ext cx="22386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가격 정당화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743" y="3374136"/>
            <a:ext cx="2238679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19만원의 근거가 '5년 R&amp;D' 단어 하나에 의존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2185416"/>
            <a:ext cx="2695879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67215" y="2414016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7215" y="241401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215" y="2843784"/>
            <a:ext cx="22386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Social Proof 위치 오류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215" y="3374136"/>
            <a:ext cx="2238679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리뷰 5+ 노출 시 구매 +270% (Spiegel) — 현재 미활용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06823"/>
            <a:ext cx="3649370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4535423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535423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65191"/>
            <a:ext cx="319217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Sticky CTA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95543"/>
            <a:ext cx="3192170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긴 페이지인데 결제 버튼이 스크롤 중 사라짐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1162" y="4306823"/>
            <a:ext cx="3649370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99762" y="4535423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9762" y="4535423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9762" y="4965191"/>
            <a:ext cx="319217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비교 정보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9762" y="5495543"/>
            <a:ext cx="3192170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비교를 위해 페이지를 떠난 유저는 거의 돌아오지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5124" y="4306823"/>
            <a:ext cx="3649370" cy="195681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13724" y="4535423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13724" y="4535423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B8300C"/>
                </a:solidFill>
                <a:latin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3724" y="4965191"/>
            <a:ext cx="319217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spc="-25">
                <a:solidFill>
                  <a:srgbClr val="222222"/>
                </a:solidFill>
                <a:latin typeface="Pretendard"/>
              </a:rPr>
              <a:t>Risk Reversal 약함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3724" y="5495543"/>
            <a:ext cx="3192170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적응 2–4주인데 환불 7일 = 적응 기간 &lt; 환불 기간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5 /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02 · 이론적 기반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재구성의 근거가 되는 5개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'왜 이렇게 바꾸는가'에 대한 답을 각 블록 결정마다 인용한다.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2123785" cy="4078223"/>
          </a:xfrm>
          <a:prstGeom prst="roundRect">
            <a:avLst>
              <a:gd name="adj" fmla="val 774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85416"/>
            <a:ext cx="2123785" cy="164592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51176"/>
            <a:ext cx="166658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74136"/>
            <a:ext cx="16665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-10">
                <a:solidFill>
                  <a:srgbClr val="F55424"/>
                </a:solidFill>
                <a:latin typeface="Pretendard"/>
              </a:rPr>
              <a:t>Problem · Agitation ·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23944"/>
            <a:ext cx="166658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242816"/>
            <a:ext cx="16665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고관여 상품 핵심 화법.</a:t>
            </a:r>
          </a:p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문제 환기 후 솔루션 제시.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79"/>
            <a:ext cx="16665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2"/>
              </a:rPr>
              <a:t>Source · Splitbase 2024 PDP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5577" y="2185416"/>
            <a:ext cx="2123785" cy="4078223"/>
          </a:xfrm>
          <a:prstGeom prst="roundRect">
            <a:avLst>
              <a:gd name="adj" fmla="val 774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5577" y="2185416"/>
            <a:ext cx="212378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4177" y="2551176"/>
            <a:ext cx="166658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FAB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4177" y="3374136"/>
            <a:ext cx="16665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-10">
                <a:solidFill>
                  <a:srgbClr val="1F4E79"/>
                </a:solidFill>
                <a:latin typeface="Pretendard"/>
              </a:rPr>
              <a:t>Feature · Advantage · Benefit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4177" y="4123944"/>
            <a:ext cx="166658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4177" y="4242816"/>
            <a:ext cx="16665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기능을 고객의 삶의 변화로 번역.</a:t>
            </a:r>
          </a:p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DTC 카피라이팅 표준 화법.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4177" y="5669279"/>
            <a:ext cx="16665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3"/>
              </a:rPr>
              <a:t>Source · Baymard 2024 PDP Messaging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3954" y="2185416"/>
            <a:ext cx="2123785" cy="4078223"/>
          </a:xfrm>
          <a:prstGeom prst="roundRect">
            <a:avLst>
              <a:gd name="adj" fmla="val 774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33954" y="2185416"/>
            <a:ext cx="2123785" cy="164592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2554" y="2551176"/>
            <a:ext cx="166658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Cialdini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2554" y="3374136"/>
            <a:ext cx="16665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-10">
                <a:solidFill>
                  <a:srgbClr val="F5B800"/>
                </a:solidFill>
                <a:latin typeface="Pretendard"/>
              </a:rPr>
              <a:t>사회적 증거 · 권위 · 희소성 · 상호성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2554" y="4123944"/>
            <a:ext cx="166658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2554" y="4242816"/>
            <a:ext cx="16665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리뷰 5+ 노출 시 구매 +270%</a:t>
            </a:r>
          </a:p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(PowerReviews 2024 Snapshot).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2554" y="5669279"/>
            <a:ext cx="16665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4"/>
              </a:rPr>
              <a:t>Source · Cialdini (2021) Influence: New &amp; Expanded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2332" y="2185416"/>
            <a:ext cx="2123785" cy="4078223"/>
          </a:xfrm>
          <a:prstGeom prst="roundRect">
            <a:avLst>
              <a:gd name="adj" fmla="val 774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22332" y="2185416"/>
            <a:ext cx="2123785" cy="164592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50932" y="2551176"/>
            <a:ext cx="166658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Loss Aversion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0932" y="3374136"/>
            <a:ext cx="16665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-10">
                <a:solidFill>
                  <a:srgbClr val="B8300C"/>
                </a:solidFill>
                <a:latin typeface="Pretendard"/>
              </a:rPr>
              <a:t>손실 회피 (이득보다 손실이 2× 이상 강함)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0932" y="4123944"/>
            <a:ext cx="166658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50932" y="4242816"/>
            <a:ext cx="16665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'좋아진다'보다 '잃는다'가</a:t>
            </a:r>
          </a:p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결정 동기로 더 강력.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0932" y="5669279"/>
            <a:ext cx="16665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5"/>
              </a:rPr>
              <a:t>Source · Thaler &amp; Sunstein (2021) Nudge: Final 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0709" y="2185416"/>
            <a:ext cx="2123785" cy="4078223"/>
          </a:xfrm>
          <a:prstGeom prst="roundRect">
            <a:avLst>
              <a:gd name="adj" fmla="val 774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10709" y="2185416"/>
            <a:ext cx="212378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39309" y="2551176"/>
            <a:ext cx="166658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Risk Reversal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9309" y="3374136"/>
            <a:ext cx="16665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-10">
                <a:solidFill>
                  <a:srgbClr val="1F4E79"/>
                </a:solidFill>
                <a:latin typeface="Pretendard"/>
              </a:rPr>
              <a:t>구매자의 위험을 판매자가 인수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39309" y="4123944"/>
            <a:ext cx="166658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39309" y="4242816"/>
            <a:ext cx="16665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경추 베개 적응 2–4주에 맞춘</a:t>
            </a:r>
          </a:p>
          <a:p>
            <a:pPr algn="l">
              <a:lnSpc>
                <a:spcPct val="15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100일 보장 = 전환 lift.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9309" y="5669279"/>
            <a:ext cx="16665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spc="-5">
                <a:solidFill>
                  <a:srgbClr val="8E8E93"/>
                </a:solidFill>
                <a:latin typeface="Pretendard"/>
                <a:hlinkClick r:id="rId6"/>
              </a:rPr>
              <a:t>Source · Baymard 2024 Return Policy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6 /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03 · 새 상세페이지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의사결정 흐름을 따르는 12개 블록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Awareness · Interest · Desire · Trust · Action — 5단계를 자연스럽게 통과시킨다.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1806397" cy="50292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85416"/>
            <a:ext cx="180639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30">
                <a:solidFill>
                  <a:srgbClr val="FFFFFF"/>
                </a:solidFill>
                <a:latin typeface="Pretendard"/>
              </a:rPr>
              <a:t>AWARENESS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71216"/>
            <a:ext cx="866622" cy="73152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55424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Hero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96974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96974" y="2871216"/>
            <a:ext cx="866622" cy="73152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96974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55424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2694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3325" y="2185416"/>
            <a:ext cx="1806397" cy="502920"/>
          </a:xfrm>
          <a:prstGeom prst="roundRect">
            <a:avLst>
              <a:gd name="adj" fmla="val 50000"/>
            </a:avLst>
          </a:prstGeom>
          <a:solidFill>
            <a:srgbClr val="FB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3325" y="2185416"/>
            <a:ext cx="180639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30">
                <a:solidFill>
                  <a:srgbClr val="222222"/>
                </a:solidFill>
                <a:latin typeface="Pretendard"/>
              </a:rPr>
              <a:t>INTEREST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3325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73325" y="2871216"/>
            <a:ext cx="866622" cy="73152"/>
          </a:xfrm>
          <a:prstGeom prst="rect">
            <a:avLst/>
          </a:prstGeom>
          <a:solidFill>
            <a:srgbClr val="FB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73325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BB38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9045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Agitation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3099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13099" y="2871216"/>
            <a:ext cx="866622" cy="73152"/>
          </a:xfrm>
          <a:prstGeom prst="rect">
            <a:avLst/>
          </a:prstGeom>
          <a:solidFill>
            <a:srgbClr val="FB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3099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BB38A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8819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9450" y="2185416"/>
            <a:ext cx="1806397" cy="50292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9450" y="2185416"/>
            <a:ext cx="180639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30">
                <a:solidFill>
                  <a:srgbClr val="222222"/>
                </a:solidFill>
                <a:latin typeface="Pretendard"/>
              </a:rPr>
              <a:t>DESIRE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9450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89450" y="2871216"/>
            <a:ext cx="866622" cy="73152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89450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5B800"/>
                </a:solidFill>
                <a:latin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5170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Social 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29225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29225" y="2871216"/>
            <a:ext cx="866622" cy="73152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29225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F5B800"/>
                </a:solidFill>
                <a:latin typeface="Pretendar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4945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FAB Deep Dive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5575" y="2185416"/>
            <a:ext cx="3612794" cy="50292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5575" y="2185416"/>
            <a:ext cx="361279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30">
                <a:solidFill>
                  <a:srgbClr val="FFFFFF"/>
                </a:solidFill>
                <a:latin typeface="Pretendard"/>
              </a:rPr>
              <a:t>TRUST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5575" y="2871216"/>
            <a:ext cx="848334" cy="2331720"/>
          </a:xfrm>
          <a:prstGeom prst="roundRect">
            <a:avLst>
              <a:gd name="adj" fmla="val 1509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05575" y="2871216"/>
            <a:ext cx="848334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5575" y="3145536"/>
            <a:ext cx="84833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1F4E79"/>
                </a:solidFill>
                <a:latin typeface="Pretendard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1295" y="3739896"/>
            <a:ext cx="75689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Comparison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27062" y="2871216"/>
            <a:ext cx="848334" cy="2331720"/>
          </a:xfrm>
          <a:prstGeom prst="roundRect">
            <a:avLst>
              <a:gd name="adj" fmla="val 1509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27062" y="2871216"/>
            <a:ext cx="848334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27062" y="3145536"/>
            <a:ext cx="84833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1F4E79"/>
                </a:solidFill>
                <a:latin typeface="Pretendard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2782" y="3739896"/>
            <a:ext cx="75689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Who Is This For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8548" y="2871216"/>
            <a:ext cx="848334" cy="2331720"/>
          </a:xfrm>
          <a:prstGeom prst="roundRect">
            <a:avLst>
              <a:gd name="adj" fmla="val 1509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8548" y="2871216"/>
            <a:ext cx="848334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8548" y="3145536"/>
            <a:ext cx="84833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1F4E79"/>
                </a:solidFill>
                <a:latin typeface="Pretendard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4268" y="3739896"/>
            <a:ext cx="75689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Risk Reversal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0035" y="2871216"/>
            <a:ext cx="848334" cy="2331720"/>
          </a:xfrm>
          <a:prstGeom prst="roundRect">
            <a:avLst>
              <a:gd name="adj" fmla="val 1509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70035" y="2871216"/>
            <a:ext cx="848334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70035" y="3145536"/>
            <a:ext cx="84833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1F4E79"/>
                </a:solidFill>
                <a:latin typeface="Pretendard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5755" y="3739896"/>
            <a:ext cx="75689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Authority Stack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28098" y="2185416"/>
            <a:ext cx="1806397" cy="502920"/>
          </a:xfrm>
          <a:prstGeom prst="roundRect">
            <a:avLst>
              <a:gd name="adj" fmla="val 50000"/>
            </a:avLst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28098" y="2185416"/>
            <a:ext cx="180639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30">
                <a:solidFill>
                  <a:srgbClr val="FFFFFF"/>
                </a:solidFill>
                <a:latin typeface="Pretendard"/>
              </a:rPr>
              <a:t>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28098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928098" y="2871216"/>
            <a:ext cx="866622" cy="73152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28098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B8300C"/>
                </a:solidFill>
                <a:latin typeface="Pretendard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73818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FAQ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67872" y="2871216"/>
            <a:ext cx="866622" cy="2331720"/>
          </a:xfrm>
          <a:prstGeom prst="roundRect">
            <a:avLst>
              <a:gd name="adj" fmla="val 14771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867872" y="2871216"/>
            <a:ext cx="866622" cy="73152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67872" y="3145536"/>
            <a:ext cx="86662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spc="-30">
                <a:solidFill>
                  <a:srgbClr val="B8300C"/>
                </a:solidFill>
                <a:latin typeface="Pretendard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13592" y="3739896"/>
            <a:ext cx="7751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spc="-10">
                <a:solidFill>
                  <a:srgbClr val="222222"/>
                </a:solidFill>
                <a:latin typeface="Pretendard"/>
              </a:rPr>
              <a:t>Final CTA + UGC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404104"/>
            <a:ext cx="11277295" cy="859535"/>
          </a:xfrm>
          <a:prstGeom prst="roundRect">
            <a:avLst>
              <a:gd name="adj" fmla="val 1702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5568696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40">
                <a:solidFill>
                  <a:srgbClr val="F55424"/>
                </a:solidFill>
                <a:latin typeface="Pretendard"/>
              </a:rPr>
              <a:t>CORE PRINCIPLE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5861304"/>
            <a:ext cx="105457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spc="-25">
                <a:solidFill>
                  <a:srgbClr val="222222"/>
                </a:solidFill>
                <a:latin typeface="Pretendard"/>
              </a:rPr>
              <a:t>페이지 길이가 아니라 순서가 전환을 만든다.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7 / 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03 · 블록 상세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Block 01 — 04 · 문제 환기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AWARENESS → INTEREST · 8초 안에 자기 문제로 인식시킨다.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85416"/>
            <a:ext cx="2695879" cy="502920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Above the Fold에서 8초 안에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헤드라인 + 별점·후기 수 (제품명 바로 아래) + Sticky 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Baymard 2025: 별점 위치가 PDP 전환에 가장 큰 영향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7671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7671" y="2185416"/>
            <a:ext cx="2695879" cy="502920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6271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6271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베개로 인한 일상 손실 환기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6271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6271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6271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'왜 매일 아침 목이 무거울까?' + 한국 성인 목 통증 통계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6271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6271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PAS 프레임워크: 솔루션보다 문제 환기가 먼저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8143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8143" y="2185416"/>
            <a:ext cx="2695879" cy="502920"/>
          </a:xfrm>
          <a:prstGeom prst="rect">
            <a:avLst/>
          </a:prstGeom>
          <a:solidFill>
            <a:srgbClr val="FB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6743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6743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Agitation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베개 하나 = 365번의 아침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6743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6743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6743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잘못된 베개 = 누적 수면 부채 인포그래픽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6743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6743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Loss Aversion (Nudge 2021): 손실 프레이밍이 2× 이상 강한 동기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8615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38615" y="2185416"/>
            <a:ext cx="2695879" cy="502920"/>
          </a:xfrm>
          <a:prstGeom prst="rect">
            <a:avLst/>
          </a:prstGeom>
          <a:solidFill>
            <a:srgbClr val="FB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7215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7215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7215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헬렌스타인이 5년간 다시 만든 이유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7215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67215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7215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셀링포인트 6개 → 핵심 3개로 축약 (높이·구조·인증)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7215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7215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Cognitive Load: 동시 처리 3±1, 6개는 회상률 급감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8 /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03 · 블록 상세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Block 05 — 08 · 욕구 · 신뢰 형성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DESIRE → TRUST · 사회적 증거와 비교로 가격을 정당화한다.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85416"/>
            <a:ext cx="2695879" cy="50292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Social Proof 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이미 ○,○○○명이 아침을 바꿨다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별점 분포 차트 + ICP 다른 리뷰 3개 (불면증·통증·갱년기)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PowerReviews 2024: 리뷰 5+ 노출 = 구매 +270% lift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7671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7671" y="2185416"/>
            <a:ext cx="2695879" cy="50292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6271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FAB Deep Dive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6271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기능을 삶의 변화로 번역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6271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6271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6271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각 차별점마다 Feature → Advantage → Benefit 1스크롤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6271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6271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Baymard 2024: Benefit-led 카피가 Feature-only 대비 전환 lift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8143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8143" y="2185416"/>
            <a:ext cx="2695879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6743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6743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비교를 페이지 안에서 끝낸다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6743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6743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6743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헬렌스타인 vs 일반 vs 타 경추 베개 비교표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6743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6743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고가품 가격 정당화 + 비교 이탈 방지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8615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38615" y="2185416"/>
            <a:ext cx="2695879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7215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7215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Who Is This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7215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자기 동일시 페르소나 5종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7215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67215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7215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사무직 · 척추 케어 · 베개 자주 바꾸는 분 · 갱년기 · 선물용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7215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7215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선물 페르소나는 19만원대 고가 선물 시장 추가 공략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9 /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03 · 블록 상세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Block 09 — 12 · 신뢰 · 행동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TRUST → ACTION · 위험을 제거하고 마지막 망설임을 끝낸다.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85416"/>
            <a:ext cx="2695879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Risk Reversal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100일 무이유 환불 + 적응 가이드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'처음 2주는 적응 기간입니다' 학술 근거와 함께 사전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Sleep Foundation: 경추 베개 적응 2–4주 / 반품률 감소 효과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7671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7671" y="2185416"/>
            <a:ext cx="2695879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6271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Authority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6271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권위 신호를 시각적으로 묶기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6271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6271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6271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FITI 인증 · 5년 테스트 데이터 · 소재 안전성 · 미디어 노출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6271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6271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Cialdini (2021): 권위 신호는 분산보다 묶음 노출이 강력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8143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8143" y="2185416"/>
            <a:ext cx="2695879" cy="502920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6743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6743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FAQ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마지막 망설임을 정면으로 다룬다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6743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6743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6743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왜 비싼지 · 환불 · 세탁 · 부모님 선물 · 옆잠 적합성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6743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6743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Baymard 2025: FAQ는 구매 후회 가능성 사전 제거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8615" y="2185416"/>
            <a:ext cx="2695879" cy="4078223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38615" y="2185416"/>
            <a:ext cx="2695879" cy="502920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7215" y="2258568"/>
            <a:ext cx="2238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-30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7215" y="2871216"/>
            <a:ext cx="22386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Final CTA + UGC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7215" y="3328416"/>
            <a:ext cx="2238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끝까지 스크롤 = 구매 의향 70%+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7215" y="4059935"/>
            <a:ext cx="223867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67215" y="419709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F55424"/>
                </a:solidFill>
                <a:latin typeface="Pretendard"/>
              </a:rPr>
              <a:t>구성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7215" y="4471416"/>
            <a:ext cx="2238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</a:rPr>
              <a:t>강한 마무리 카피 + 인스타 UGC 갤러리 + Sticky CTA 재확인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7215" y="5385816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">
                <a:solidFill>
                  <a:srgbClr val="1F4E79"/>
                </a:solidFill>
                <a:latin typeface="Pretendard"/>
              </a:rPr>
              <a:t>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7215" y="5660136"/>
            <a:ext cx="2238679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또래 증거(UGC)가 광고보다 신뢰 형성에 압도적 우위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10 /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04 · 카피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카피 톤 &amp; 메시지 위계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Hero 헤드라인 공식과 단어 가이드로 톤을 통일한다.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5501487" cy="4078223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59736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597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20">
                <a:solidFill>
                  <a:srgbClr val="B8300C"/>
                </a:solidFill>
                <a:latin typeface="Pretendard"/>
              </a:rPr>
              <a:t>HERO 헤드라인 — 예시안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62656"/>
            <a:ext cx="495284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50">
                <a:solidFill>
                  <a:srgbClr val="222222"/>
                </a:solidFill>
                <a:latin typeface="Pretendard"/>
              </a:rPr>
              <a:t>매일 아침, 목이 다르다.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11296"/>
            <a:ext cx="495284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spc="-15">
                <a:solidFill>
                  <a:srgbClr val="45515E"/>
                </a:solidFill>
                <a:latin typeface="Pretendard"/>
              </a:rPr>
              <a:t>5년 임상 테스트로 설계한, 내 목에 맞춰지는</a:t>
            </a:r>
          </a:p>
          <a:p>
            <a:pPr algn="l">
              <a:lnSpc>
                <a:spcPct val="150000"/>
              </a:lnSpc>
            </a:pPr>
            <a:r>
              <a:rPr sz="1400" b="0" spc="-15">
                <a:solidFill>
                  <a:srgbClr val="45515E"/>
                </a:solidFill>
                <a:latin typeface="Pretendard"/>
              </a:rPr>
              <a:t>4단계 베개.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88536"/>
            <a:ext cx="4952847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25696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">
                <a:solidFill>
                  <a:srgbClr val="F55424"/>
                </a:solidFill>
                <a:latin typeface="Pretendard"/>
              </a:rPr>
              <a:t>헤드라인 공식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0016"/>
            <a:ext cx="49528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Benefit + 구체 증거 +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28016" cy="128016"/>
          </a:xfrm>
          <a:prstGeom prst="roundRect">
            <a:avLst>
              <a:gd name="adj" fmla="val 14285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48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-5">
                <a:solidFill>
                  <a:srgbClr val="45515E"/>
                </a:solidFill>
                <a:latin typeface="Pretendard"/>
              </a:rPr>
              <a:t>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248656"/>
            <a:ext cx="36726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-10">
                <a:solidFill>
                  <a:srgbClr val="222222"/>
                </a:solidFill>
                <a:latin typeface="Pretendard"/>
              </a:rPr>
              <a:t>→  매일 아침이 다르다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28016" cy="128016"/>
          </a:xfrm>
          <a:prstGeom prst="roundRect">
            <a:avLst>
              <a:gd name="adj" fmla="val 14285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5961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-5">
                <a:solidFill>
                  <a:srgbClr val="45515E"/>
                </a:solidFill>
                <a:latin typeface="Pretendard"/>
              </a:rPr>
              <a:t>구체 증거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596128"/>
            <a:ext cx="36726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-10">
                <a:solidFill>
                  <a:srgbClr val="222222"/>
                </a:solidFill>
                <a:latin typeface="Pretendard"/>
              </a:rPr>
              <a:t>→  5년 임상 테스트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016752"/>
            <a:ext cx="128016" cy="128016"/>
          </a:xfrm>
          <a:prstGeom prst="roundRect">
            <a:avLst>
              <a:gd name="adj" fmla="val 14285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943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-5">
                <a:solidFill>
                  <a:srgbClr val="45515E"/>
                </a:solidFill>
                <a:latin typeface="Pretendard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943600"/>
            <a:ext cx="36726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-10">
                <a:solidFill>
                  <a:srgbClr val="222222"/>
                </a:solidFill>
                <a:latin typeface="Pretendard"/>
              </a:rPr>
              <a:t>→  4단계 높이 조절 베개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2185416"/>
            <a:ext cx="5501487" cy="4078223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7327" y="2459736"/>
            <a:ext cx="49528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spc="-20">
                <a:solidFill>
                  <a:srgbClr val="222222"/>
                </a:solidFill>
                <a:latin typeface="Pretendard"/>
              </a:rPr>
              <a:t>쓸 단어 / 쓰지 말 단어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843784"/>
            <a:ext cx="49528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spc="-10">
                <a:solidFill>
                  <a:srgbClr val="45515E"/>
                </a:solidFill>
                <a:latin typeface="Pretendard"/>
              </a:rPr>
              <a:t>모호한 표현 · 광고법 위반 소지 → 숫자와 고유명사로 구체화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7327" y="3374136"/>
            <a:ext cx="2384983" cy="2615183"/>
          </a:xfrm>
          <a:prstGeom prst="roundRect">
            <a:avLst>
              <a:gd name="adj" fmla="val 5367"/>
            </a:avLst>
          </a:prstGeom>
          <a:solidFill>
            <a:srgbClr val="E8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671919" y="355701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1919" y="355701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30">
                <a:solidFill>
                  <a:srgbClr val="FFFFFF"/>
                </a:solidFill>
                <a:latin typeface="Pretendard"/>
              </a:rPr>
              <a:t>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5927" y="401421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16A34A"/>
                </a:solidFill>
                <a:latin typeface="Pretendard"/>
              </a:rPr>
              <a:t>·  5년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5927" y="442569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16A34A"/>
                </a:solidFill>
                <a:latin typeface="Pretendard"/>
              </a:rPr>
              <a:t>·  ○○○명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5927" y="483717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16A34A"/>
                </a:solidFill>
                <a:latin typeface="Pretendard"/>
              </a:rPr>
              <a:t>·  FITI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5927" y="524865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16A34A"/>
                </a:solidFill>
                <a:latin typeface="Pretendard"/>
              </a:rPr>
              <a:t>·  100일 보장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5191" y="3374136"/>
            <a:ext cx="2384983" cy="2615183"/>
          </a:xfrm>
          <a:prstGeom prst="roundRect">
            <a:avLst>
              <a:gd name="adj" fmla="val 5367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39783" y="35570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9783" y="355701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30">
                <a:solidFill>
                  <a:srgbClr val="FFFFFF"/>
                </a:solidFill>
                <a:latin typeface="Pretendard"/>
              </a:rPr>
              <a:t>AVOID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3791" y="401421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B8300C"/>
                </a:solidFill>
                <a:latin typeface="Pretendard"/>
              </a:rPr>
              <a:t>·  최고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3791" y="442569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B8300C"/>
                </a:solidFill>
                <a:latin typeface="Pretendard"/>
              </a:rPr>
              <a:t>·  1위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3791" y="483717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B8300C"/>
                </a:solidFill>
                <a:latin typeface="Pretendard"/>
              </a:rPr>
              <a:t>·  혁명적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3791" y="5248656"/>
            <a:ext cx="20192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15">
                <a:solidFill>
                  <a:srgbClr val="B8300C"/>
                </a:solidFill>
                <a:latin typeface="Pretendard"/>
              </a:rPr>
              <a:t>·  꿀잠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11 /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05 · 실행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Phase별 우선순위 — 임팩트 대비 작업량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한 번에 다 바꾸지 않는다. 가장 큰 lift부터 단계적으로.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3606698" cy="4078223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85416"/>
            <a:ext cx="3606698" cy="777240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">
                <a:solidFill>
                  <a:srgbClr val="FFFFFF"/>
                </a:solidFill>
                <a:latin typeface="Pretendar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spc="-30">
                <a:solidFill>
                  <a:srgbClr val="FFFFFF"/>
                </a:solidFill>
                <a:latin typeface="Pretendard"/>
              </a:rPr>
              <a:t>1주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45536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즉시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57016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첫 화면 + 사회적 증거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68496"/>
            <a:ext cx="3058058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422452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01  Hero 재설계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9028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7141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05  Social Proof Top 상단 이동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5604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3717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Sticky CTA 전 페이지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12664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8E8E93"/>
                </a:solidFill>
                <a:latin typeface="Pretendard"/>
              </a:rPr>
              <a:t>단 3가지 변경만으로도 보통 가장 큰 폭의 전환 lift 발생 (Baymard · Splitbase 사례)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61304"/>
            <a:ext cx="3058058" cy="36576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861304"/>
            <a:ext cx="27837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-10">
                <a:solidFill>
                  <a:srgbClr val="F55424"/>
                </a:solidFill>
                <a:latin typeface="Pretendard"/>
              </a:rPr>
              <a:t>예상 임팩트  +20–40%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2498" y="2185416"/>
            <a:ext cx="3606698" cy="4078223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2498" y="2185416"/>
            <a:ext cx="3606698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6818" y="2304288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">
                <a:solidFill>
                  <a:srgbClr val="FFFFFF"/>
                </a:solidFill>
                <a:latin typeface="Pretendard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2551176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spc="-30">
                <a:solidFill>
                  <a:srgbClr val="FFFFFF"/>
                </a:solidFill>
                <a:latin typeface="Pretendard"/>
              </a:rPr>
              <a:t>2주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6818" y="3145536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핵심 본체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6818" y="3557016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신뢰 형성과 가격 정당화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6818" y="3968496"/>
            <a:ext cx="3058058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66818" y="4224528"/>
            <a:ext cx="73152" cy="73152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49698" y="410565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02–04  PAS 카피·시각 리라이팅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66818" y="4590288"/>
            <a:ext cx="73152" cy="73152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49698" y="447141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06  FAB Deep Dive 6→3개 축약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66818" y="4956048"/>
            <a:ext cx="73152" cy="73152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49698" y="483717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인포그래픽 리뉴얼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6818" y="5312664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8E8E93"/>
                </a:solidFill>
                <a:latin typeface="Pretendard"/>
              </a:rPr>
              <a:t>카피와 인포그래픽 작업이 가장 크고, 본격적인 정당화 논리가 완성되는 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6818" y="5861304"/>
            <a:ext cx="3058058" cy="36576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3978" y="5861304"/>
            <a:ext cx="27837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-10">
                <a:solidFill>
                  <a:srgbClr val="1F4E79"/>
                </a:solidFill>
                <a:latin typeface="Pretendard"/>
              </a:rPr>
              <a:t>예상 임팩트  +추가 lift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7796" y="2185416"/>
            <a:ext cx="3606698" cy="4078223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27796" y="2185416"/>
            <a:ext cx="3606698" cy="7772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02116" y="2304288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">
                <a:solidFill>
                  <a:srgbClr val="FFFFFF"/>
                </a:solidFill>
                <a:latin typeface="Pretendard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2116" y="2551176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spc="-30">
                <a:solidFill>
                  <a:srgbClr val="FFFFFF"/>
                </a:solidFill>
                <a:latin typeface="Pretendard"/>
              </a:rPr>
              <a:t>1–2주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2116" y="3145536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마지막 마찰 제거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2116" y="3557016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비교 · FAQ · 보장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2116" y="3968496"/>
            <a:ext cx="3058058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402116" y="422452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84996" y="410565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07  비교표 신규 제작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02116" y="459028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84996" y="447141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09  100일 보장 + 적응 가이드 도입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02116" y="4956048"/>
            <a:ext cx="73152" cy="73152"/>
          </a:xfrm>
          <a:prstGeom prst="roundRect">
            <a:avLst>
              <a:gd name="adj" fmla="val 125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84996" y="4837176"/>
            <a:ext cx="296661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spc="-10">
                <a:solidFill>
                  <a:srgbClr val="222222"/>
                </a:solidFill>
                <a:latin typeface="Pretendard"/>
              </a:rPr>
              <a:t>Block 11  FAQ 재구성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2116" y="5312664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8E8E93"/>
                </a:solidFill>
                <a:latin typeface="Pretendard"/>
              </a:rPr>
              <a:t>Phase 1·2 유입의 망설임을 마무리하고 7일 환불 이슈를 사전 차단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02116" y="5861304"/>
            <a:ext cx="3058058" cy="36576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39276" y="5861304"/>
            <a:ext cx="27837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-10">
                <a:solidFill>
                  <a:srgbClr val="F5B800"/>
                </a:solidFill>
                <a:latin typeface="Pretendard"/>
              </a:rPr>
              <a:t>예상 임팩트  반품률 −20%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12 / 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06 · 예상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Phase 3 완료 후 예상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Baymard · Spiegel · 국내 이커머스 벤치마크 기반 보수적 추정.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3612794" cy="210312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1401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1401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20">
                <a:solidFill>
                  <a:srgbClr val="16A34A"/>
                </a:solidFill>
                <a:latin typeface="Pretendard"/>
              </a:rPr>
              <a:t>▲  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306415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00">
                <a:solidFill>
                  <a:srgbClr val="F55424"/>
                </a:solidFill>
                <a:latin typeface="Pretendard"/>
              </a:rPr>
              <a:t>+25–50%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구매 전환율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30641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45515E"/>
                </a:solidFill>
                <a:latin typeface="Pretendard"/>
              </a:rPr>
              <a:t>Hero + Social Proof + Risk Reversal 누적 효과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9450" y="2185416"/>
            <a:ext cx="3612794" cy="210312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70" y="24140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3770" y="241401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20">
                <a:solidFill>
                  <a:srgbClr val="B8300C"/>
                </a:solidFill>
                <a:latin typeface="Pretendard"/>
              </a:rPr>
              <a:t>▼  REDUCE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770" y="2779776"/>
            <a:ext cx="306415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spc="-100">
                <a:solidFill>
                  <a:srgbClr val="1F4E79"/>
                </a:solidFill>
                <a:latin typeface="Pretendard"/>
              </a:rPr>
              <a:t>−20%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3770" y="3602736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7일 반품률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770" y="3950208"/>
            <a:ext cx="30641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45515E"/>
                </a:solidFill>
                <a:latin typeface="Pretendard"/>
              </a:rPr>
              <a:t>적응 가이드 사전 안내로 '안 맞아요' 환불 차단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2185416"/>
            <a:ext cx="3612794" cy="210312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96020" y="241401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6020" y="241401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20">
                <a:solidFill>
                  <a:srgbClr val="16A34A"/>
                </a:solidFill>
                <a:latin typeface="Pretendard"/>
              </a:rPr>
              <a:t>▲  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6020" y="2779776"/>
            <a:ext cx="306415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spc="-100">
                <a:solidFill>
                  <a:srgbClr val="F5B800"/>
                </a:solidFill>
                <a:latin typeface="Pretendard"/>
              </a:rPr>
              <a:t>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6020" y="3602736"/>
            <a:ext cx="306415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페이지 체류시간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020" y="3950208"/>
            <a:ext cx="30641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45515E"/>
                </a:solidFill>
                <a:latin typeface="Pretendard"/>
              </a:rPr>
              <a:t>PAS 흐름이 자기 문제 인식을 유도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9703"/>
            <a:ext cx="11277295" cy="1773936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654295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-15">
                <a:solidFill>
                  <a:srgbClr val="222222"/>
                </a:solidFill>
                <a:latin typeface="Pretendard"/>
              </a:rPr>
              <a:t>전환율 +25–50% 누적 구조  ·  Phase별 lift 적층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4690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spc="-5">
                <a:solidFill>
                  <a:srgbClr val="45515E"/>
                </a:solidFill>
                <a:latin typeface="Pretendard"/>
              </a:rPr>
              <a:t>Hero·Social Proof 단계의 lift가 가장 크고, Comparison·Risk Reversal이 마지막 마찰을 끝낸다.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358383"/>
            <a:ext cx="4218310" cy="384048"/>
          </a:xfrm>
          <a:prstGeom prst="rect">
            <a:avLst/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358383"/>
            <a:ext cx="39988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5">
                <a:solidFill>
                  <a:srgbClr val="FFFFFF"/>
                </a:solidFill>
                <a:latin typeface="Pretendard"/>
              </a:rPr>
              <a:t>Hero 재설계  +20%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1270" y="5358383"/>
            <a:ext cx="2530986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50998" y="5358383"/>
            <a:ext cx="231153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5">
                <a:solidFill>
                  <a:srgbClr val="FFFFFF"/>
                </a:solidFill>
                <a:latin typeface="Pretendard"/>
              </a:rPr>
              <a:t>Social Proof Top  +12%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2256" y="5358383"/>
            <a:ext cx="1687324" cy="384048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1984" y="5358383"/>
            <a:ext cx="14678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5">
                <a:solidFill>
                  <a:srgbClr val="FFFFFF"/>
                </a:solidFill>
                <a:latin typeface="Pretendard"/>
              </a:rPr>
              <a:t>FAB · Comparison  +8%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9580" y="5358383"/>
            <a:ext cx="1265493" cy="384048"/>
          </a:xfrm>
          <a:prstGeom prst="rect">
            <a:avLst/>
          </a:prstGeom>
          <a:solidFill>
            <a:srgbClr val="B83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69308" y="5358383"/>
            <a:ext cx="104603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5">
                <a:solidFill>
                  <a:srgbClr val="FFFFFF"/>
                </a:solidFill>
                <a:latin typeface="Pretendard"/>
              </a:rPr>
              <a:t>Risk Reversal + FAQ  +6%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25073" y="5358383"/>
            <a:ext cx="843662" cy="3840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8388" y="5779007"/>
            <a:ext cx="9144" cy="7315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87044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-5">
                <a:solidFill>
                  <a:srgbClr val="45515E"/>
                </a:solidFill>
                <a:latin typeface="Pretendard"/>
              </a:rPr>
              <a:t>+0%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1275" y="5779007"/>
            <a:ext cx="9144" cy="7315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38647" y="587044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-5">
                <a:solidFill>
                  <a:srgbClr val="45515E"/>
                </a:solidFill>
                <a:latin typeface="Pretendard"/>
              </a:rPr>
              <a:t>+25%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64163" y="5779007"/>
            <a:ext cx="9144" cy="7315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11535" y="587044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-5">
                <a:solidFill>
                  <a:srgbClr val="45515E"/>
                </a:solidFill>
                <a:latin typeface="Pretendard"/>
              </a:rPr>
              <a:t>+50%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10637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-5">
                <a:solidFill>
                  <a:srgbClr val="8E8E93"/>
                </a:solidFill>
                <a:latin typeface="Pretendard"/>
              </a:rPr>
              <a:t>Source · Baymard 2025 · Spiegel Research · Splitbase 9 Elements (자체 가중 추정, 보수적 시나리오 기준)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13 / 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0">
                <a:solidFill>
                  <a:srgbClr val="8E8E93"/>
                </a:solidFill>
                <a:latin typeface="Pretendard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222222"/>
                </a:solidFill>
                <a:latin typeface="Pretendard"/>
              </a:rPr>
              <a:t>pango-gy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spc="-60">
                <a:solidFill>
                  <a:srgbClr val="222222"/>
                </a:solidFill>
                <a:latin typeface="Pretendard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spc="-10">
                <a:solidFill>
                  <a:srgbClr val="45515E"/>
                </a:solidFill>
                <a:latin typeface="Pretendard"/>
              </a:rPr>
              <a:t>모든 재구성 결정은 학술 · 업계 · 국내 시장 데이터 3축으로 교차 검증되었다.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85416"/>
            <a:ext cx="3606698" cy="4078223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59736"/>
            <a:ext cx="54864" cy="365760"/>
          </a:xfrm>
          <a:prstGeom prst="roundRect">
            <a:avLst>
              <a:gd name="adj" fmla="val 33333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학술 · 도서 (2020+)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186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54096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2"/>
              </a:rPr>
              <a:t>Cialdini (2021) Influence: New &amp; Expanded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8561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3"/>
              </a:rPr>
              <a:t>Thaler &amp; Sunstein (2021) Nudge: Final Edition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525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4"/>
              </a:rPr>
              <a:t>Kahneman (2021) Noise: Flaw in Human Judgment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1947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754879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5"/>
              </a:rPr>
              <a:t>Sleep Foundation — Pillow &amp; Sleep Posture (2024)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6"/>
              </a:rPr>
              <a:t>NN/g (2024) — Above-the-Fold Attention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2498" y="2185416"/>
            <a:ext cx="3606698" cy="4078223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66818" y="2459736"/>
            <a:ext cx="54864" cy="365760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49698" y="2432304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업계 리서치 · 벤치마크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6818" y="32186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5418" y="3054096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7"/>
              </a:rPr>
              <a:t>Baymard Institute — Product Page UX (2024)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6818" y="3785615"/>
            <a:ext cx="91440" cy="914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95418" y="3621024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8"/>
              </a:rPr>
              <a:t>Contentsquare — Digital Experience Benchmark 2024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6818" y="43525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95418" y="4187952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9"/>
              </a:rPr>
              <a:t>PowerReviews — Reviews Snapshot 2024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6818" y="4919471"/>
            <a:ext cx="91440" cy="914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95418" y="4754879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0"/>
              </a:rPr>
              <a:t>Splitbase — 9 Elements for PDP Conversion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6818" y="54864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5418" y="5321808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1"/>
              </a:rPr>
              <a:t>BrightLocal — Consumer Review Survey 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7796" y="2185416"/>
            <a:ext cx="3606698" cy="4078223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02116" y="2459736"/>
            <a:ext cx="54864" cy="365760"/>
          </a:xfrm>
          <a:prstGeom prst="roundRect">
            <a:avLst>
              <a:gd name="adj" fmla="val 33333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84996" y="2432304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-20">
                <a:solidFill>
                  <a:srgbClr val="222222"/>
                </a:solidFill>
                <a:latin typeface="Pretendard"/>
              </a:rPr>
              <a:t>국내 데이터 · 가이드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02116" y="32186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0716" y="3054096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2"/>
              </a:rPr>
              <a:t>토스페이먼츠 — 결제 인사이트 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02116" y="378561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30716" y="3621024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3"/>
              </a:rPr>
              <a:t>NHN커머스 — 이커머스 데이터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02116" y="43525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30716" y="4187952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4"/>
              </a:rPr>
              <a:t>아이보스 — 상세페이지 노하우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02116" y="491947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0716" y="4754879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5"/>
              </a:rPr>
              <a:t>한국 소비자원 — 온라인 쇼핑몰 이용 실태조사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02116" y="54864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30716" y="5321808"/>
            <a:ext cx="292089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spc="-10">
                <a:solidFill>
                  <a:srgbClr val="222222"/>
                </a:solidFill>
                <a:latin typeface="Pretendard"/>
                <a:hlinkClick r:id="rId16"/>
              </a:rPr>
              <a:t>Adobe Korea — Digital Trends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Pretendard"/>
              </a:rPr>
              <a:t>14 / 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E8E93"/>
                </a:solidFill>
                <a:latin typeface="Pretendard"/>
              </a:rPr>
              <a:t>헬렌스타인 '내 목의 베개' 상세페이지 재구성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300C"/>
              </a:gs>
              <a:gs pos="50000">
                <a:srgbClr val="F55424"/>
              </a:gs>
              <a:gs pos="100000">
                <a:srgbClr val="FBB38A"/>
              </a:gs>
            </a:gsLst>
            <a:lin ang="2700000" scaled="1"/>
          </a:gradFill>
          <a:ln>
            <a:noFill/>
          </a:ln>
          <a:effectLst>
            <a:outerShdw blurRad="190500" dir="5400000" algn="ctr" rotWithShape="0">
              <a:srgbClr val="F5542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40">
                <a:solidFill>
                  <a:srgbClr val="FFFFFF"/>
                </a:solidFill>
                <a:latin typeface="Pretendard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spc="-30">
                <a:solidFill>
                  <a:srgbClr val="FFFFFF"/>
                </a:solidFill>
                <a:latin typeface="Pretendard"/>
              </a:rPr>
              <a:t>pango-gy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 spc="-120">
                <a:solidFill>
                  <a:srgbClr val="FFFFFF"/>
                </a:solidFill>
                <a:latin typeface="Pretendard"/>
              </a:rPr>
              <a:t>같은 자산으로,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 spc="-120">
                <a:solidFill>
                  <a:srgbClr val="FFFFFF"/>
                </a:solidFill>
                <a:latin typeface="Pretendard"/>
              </a:rPr>
              <a:t>다른 결과를 만듭니다.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39896"/>
            <a:ext cx="360669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68496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spc="-30">
                <a:solidFill>
                  <a:srgbClr val="B8300C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53128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킥오프 미팅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82896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Phase 1 범위 · 일정 · 리뷰 데이터 접근 권한 협의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498" y="3739896"/>
            <a:ext cx="360669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3968496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spc="-30">
                <a:solidFill>
                  <a:srgbClr val="B8300C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4453128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와이어프레임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4882896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Hero · Social Proof · Sticky CTA 시안 제작 (1주)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3739896"/>
            <a:ext cx="360669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2116" y="3968496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spc="-30">
                <a:solidFill>
                  <a:srgbClr val="B8300C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4453128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-25">
                <a:solidFill>
                  <a:srgbClr val="222222"/>
                </a:solidFill>
                <a:latin typeface="Pretendard"/>
              </a:rPr>
              <a:t>A/B 테스트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882896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-10">
                <a:solidFill>
                  <a:srgbClr val="45515E"/>
                </a:solidFill>
                <a:latin typeface="Pretendard"/>
              </a:rPr>
              <a:t>헤드라인 · CTA 카피 · Risk Reversal 위치 가설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60">
                <a:solidFill>
                  <a:srgbClr val="FFFFFF"/>
                </a:solidFill>
                <a:latin typeface="Pretendard"/>
              </a:rPr>
              <a:t>HELLENSTEIN  ·  내 목의 베개  ·  PDP REDESIGN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2007</Words>
  <Application>Microsoft Macintosh PowerPoint</Application>
  <PresentationFormat>와이드스크린</PresentationFormat>
  <Paragraphs>407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승재 유</cp:lastModifiedBy>
  <cp:revision>2</cp:revision>
  <dcterms:created xsi:type="dcterms:W3CDTF">2013-01-27T09:14:16Z</dcterms:created>
  <dcterms:modified xsi:type="dcterms:W3CDTF">2026-05-18T05:08:05Z</dcterms:modified>
  <cp:category/>
</cp:coreProperties>
</file>